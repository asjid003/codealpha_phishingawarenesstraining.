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67" r:id="rId16"/>
    <p:sldId id="271" r:id="rId17"/>
  </p:sldIdLst>
  <p:sldSz cx="12192000" cy="6858000"/>
  <p:notesSz cx="6858000" cy="9144000"/>
  <p:embeddedFontLst>
    <p:embeddedFont>
      <p:font typeface="Bahnschrift SemiLight" panose="020B0502040204020203" pitchFamily="34" charset="0"/>
      <p:regular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Inter" panose="020B0604020202020204" charset="0"/>
      <p:regular r:id="rId24"/>
      <p:bold r:id="rId25"/>
      <p:italic r:id="rId26"/>
      <p:boldItalic r:id="rId27"/>
    </p:embeddedFont>
    <p:embeddedFont>
      <p:font typeface="Inter ExtraBold" panose="020B0604020202020204" charset="0"/>
      <p:bold r:id="rId28"/>
      <p:boldItalic r:id="rId29"/>
    </p:embeddedFont>
    <p:embeddedFont>
      <p:font typeface="Inter SemiBold" panose="020B0604020202020204" charset="0"/>
      <p:regular r:id="rId30"/>
      <p:bold r:id="rId31"/>
      <p:italic r:id="rId32"/>
      <p:boldItalic r:id="rId33"/>
    </p:embeddedFont>
    <p:embeddedFont>
      <p:font typeface="JetBrains Mono" panose="020B0604020202020204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9" d="100"/>
          <a:sy n="69" d="100"/>
        </p:scale>
        <p:origin x="540" y="-11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openxmlformats.org/officeDocument/2006/relationships/viewProps" Target="viewProps.xml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font" Target="fonts/font19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font" Target="fonts/font18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75250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mailto:phishing@microsoft.com" TargetMode="External"/><Relationship Id="rId3" Type="http://schemas.openxmlformats.org/officeDocument/2006/relationships/image" Target="../media/image1.png"/><Relationship Id="rId7" Type="http://schemas.openxmlformats.org/officeDocument/2006/relationships/hyperlink" Target="mailto:reportphishing@google.com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stop-spoofing@amazon.com" TargetMode="Externa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81025" y="1597372"/>
            <a:ext cx="110299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E8A0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 </a:t>
            </a:r>
            <a:r>
              <a:rPr lang="en-US" sz="1500" b="0" i="0" u="none" strike="noStrike" cap="none" dirty="0" err="1">
                <a:solidFill>
                  <a:srgbClr val="E8A0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CYBER_SECURITY_</a:t>
            </a:r>
            <a:r>
              <a:rPr lang="en-US" sz="1500" dirty="0" err="1">
                <a:solidFill>
                  <a:srgbClr val="E8A0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Domain</a:t>
            </a:r>
            <a:r>
              <a:rPr lang="en-US" sz="1500" b="0" i="0" u="none" strike="noStrike" cap="none" dirty="0">
                <a:solidFill>
                  <a:srgbClr val="E8A0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]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305276" y="2092672"/>
            <a:ext cx="11581447" cy="1276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0" b="1" i="0" u="none" strike="noStrike" cap="none">
                <a:solidFill>
                  <a:srgbClr val="F0EBD8"/>
                </a:solidFill>
                <a:latin typeface="Inter"/>
                <a:ea typeface="Inter"/>
                <a:cs typeface="Inter"/>
                <a:sym typeface="Inter"/>
              </a:rPr>
              <a:t>AWARENESS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809750" y="3464272"/>
            <a:ext cx="8572500" cy="85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8A020"/>
                </a:solidFill>
                <a:latin typeface="Inter"/>
                <a:ea typeface="Inter"/>
                <a:cs typeface="Inter"/>
                <a:sym typeface="Inter"/>
              </a:rPr>
              <a:t>Outsmarting Digital Deception &amp; Securing Human Elements in Cybersecurity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4781550" y="4698652"/>
            <a:ext cx="2628900" cy="561975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5162550" y="4793902"/>
            <a:ext cx="18669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B1B2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PHISHING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809625" y="581025"/>
            <a:ext cx="11341417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E8A020"/>
                </a:solidFill>
                <a:latin typeface="Inter"/>
                <a:ea typeface="Inter"/>
                <a:cs typeface="Inter"/>
                <a:sym typeface="Inter"/>
              </a:rPr>
              <a:t>WHAT IS PHISHING?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581025" y="581025"/>
            <a:ext cx="57150" cy="50289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581025" y="1772691"/>
            <a:ext cx="5229225" cy="1462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0EBD8"/>
                </a:solidFill>
                <a:latin typeface="Inter"/>
                <a:ea typeface="Inter"/>
                <a:cs typeface="Inter"/>
                <a:sym typeface="Inter"/>
              </a:rPr>
              <a:t>Phishing is a highly deceptive cyber attack strategy where attackers pretend to be reputable institutions to trick you into revealing sensitive files or user credentials.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81025" y="5664249"/>
            <a:ext cx="52292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8A0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Understanding the Threat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009650" y="3521124"/>
            <a:ext cx="4800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8A4C0"/>
                </a:solidFill>
                <a:latin typeface="Inter"/>
                <a:ea typeface="Inter"/>
                <a:cs typeface="Inter"/>
                <a:sym typeface="Inter"/>
              </a:rPr>
              <a:t>Instead of hacking database systems directly, attackers target the </a:t>
            </a:r>
            <a:r>
              <a:rPr lang="en-US" sz="1500" b="0" i="0" u="none" strike="noStrike" cap="none">
                <a:solidFill>
                  <a:srgbClr val="F0EBD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human element</a:t>
            </a:r>
            <a:r>
              <a:rPr lang="en-US" sz="1500" b="0" i="0" u="none" strike="noStrike" cap="none">
                <a:solidFill>
                  <a:srgbClr val="A8A4C0"/>
                </a:solidFill>
                <a:latin typeface="Inter"/>
                <a:ea typeface="Inter"/>
                <a:cs typeface="Inter"/>
                <a:sym typeface="Inter"/>
              </a:rPr>
              <a:t> through psychological triggers.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009650" y="4673649"/>
            <a:ext cx="4800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8A4C0"/>
                </a:solidFill>
                <a:latin typeface="Inter"/>
                <a:ea typeface="Inter"/>
                <a:cs typeface="Inter"/>
                <a:sym typeface="Inter"/>
              </a:rPr>
              <a:t>It remains the primary entry point for over </a:t>
            </a:r>
            <a:r>
              <a:rPr lang="en-US" sz="1500" b="0" i="0" u="none" strike="noStrike" cap="none">
                <a:solidFill>
                  <a:srgbClr val="F0EBD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90% of global organizational cyber incidents</a:t>
            </a:r>
            <a:r>
              <a:rPr lang="en-US" sz="1500" b="0" i="0" u="none" strike="noStrike" cap="none">
                <a:solidFill>
                  <a:srgbClr val="A8A4C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pic>
        <p:nvPicPr>
          <p:cNvPr id="101" name="Google Shape;10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559224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4711749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95925" y="1835650"/>
            <a:ext cx="4180850" cy="318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464915"/>
            <a:ext cx="3486150" cy="260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1464915"/>
            <a:ext cx="3486150" cy="260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4825" y="1464915"/>
            <a:ext cx="3486150" cy="260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714750" y="4360515"/>
            <a:ext cx="4762500" cy="223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809625" y="581025"/>
            <a:ext cx="11341417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E8A020"/>
                </a:solidFill>
                <a:latin typeface="Inter"/>
                <a:ea typeface="Inter"/>
                <a:cs typeface="Inter"/>
                <a:sym typeface="Inter"/>
              </a:rPr>
              <a:t>THE PHISHING ATTACK CYCLE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581025" y="581025"/>
            <a:ext cx="57150" cy="50289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85975" y="184591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893921" y="2560290"/>
            <a:ext cx="286035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0EBD8"/>
                </a:solidFill>
                <a:latin typeface="Inter"/>
                <a:ea typeface="Inter"/>
                <a:cs typeface="Inter"/>
                <a:sym typeface="Inter"/>
              </a:rPr>
              <a:t>1. RESEARCH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962025" y="2779365"/>
            <a:ext cx="27241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8A4C0"/>
                </a:solidFill>
                <a:latin typeface="Inter"/>
                <a:ea typeface="Inter"/>
                <a:cs typeface="Inter"/>
                <a:sym typeface="Inter"/>
              </a:rPr>
              <a:t>Attackers gather public target info from platforms like LinkedIn or social profiles.</a:t>
            </a:r>
            <a:endParaRPr/>
          </a:p>
        </p:txBody>
      </p:sp>
      <p:pic>
        <p:nvPicPr>
          <p:cNvPr id="118" name="Google Shape;118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29300" y="1845915"/>
            <a:ext cx="5334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4665821" y="2560290"/>
            <a:ext cx="286035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0EBD8"/>
                </a:solidFill>
                <a:latin typeface="Inter"/>
                <a:ea typeface="Inter"/>
                <a:cs typeface="Inter"/>
                <a:sym typeface="Inter"/>
              </a:rPr>
              <a:t>2. WEAPONIZE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4733925" y="2779365"/>
            <a:ext cx="27241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8A4C0"/>
                </a:solidFill>
                <a:latin typeface="Inter"/>
                <a:ea typeface="Inter"/>
                <a:cs typeface="Inter"/>
                <a:sym typeface="Inter"/>
              </a:rPr>
              <a:t>Attackers design identical email templates and fake login clone portals.</a:t>
            </a:r>
            <a:endParaRPr/>
          </a:p>
        </p:txBody>
      </p:sp>
      <p:pic>
        <p:nvPicPr>
          <p:cNvPr id="121" name="Google Shape;121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29775" y="184591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8437721" y="2560290"/>
            <a:ext cx="286035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0EBD8"/>
                </a:solidFill>
                <a:latin typeface="Inter"/>
                <a:ea typeface="Inter"/>
                <a:cs typeface="Inter"/>
                <a:sym typeface="Inter"/>
              </a:rPr>
              <a:t>3. ATTACK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505825" y="2779365"/>
            <a:ext cx="27241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8A4C0"/>
                </a:solidFill>
                <a:latin typeface="Inter"/>
                <a:ea typeface="Inter"/>
                <a:cs typeface="Inter"/>
                <a:sym typeface="Inter"/>
              </a:rPr>
              <a:t>Deceptive emails with high-urgency language are bulk-delivered to users.</a:t>
            </a:r>
            <a:endParaRPr/>
          </a:p>
        </p:txBody>
      </p:sp>
      <p:pic>
        <p:nvPicPr>
          <p:cNvPr id="124" name="Google Shape;124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929312" y="470341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3955732" y="5227290"/>
            <a:ext cx="428053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4. EXPLOIT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4057650" y="5646390"/>
            <a:ext cx="4076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8A4C0"/>
                </a:solidFill>
                <a:latin typeface="Inter"/>
                <a:ea typeface="Inter"/>
                <a:cs typeface="Inter"/>
                <a:sym typeface="Inter"/>
              </a:rPr>
              <a:t>Victim submits credentials on the fake link, which immediately leaks to hackers.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464915"/>
            <a:ext cx="5372100" cy="246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1464915"/>
            <a:ext cx="5372100" cy="246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217640"/>
            <a:ext cx="5372100" cy="246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4217640"/>
            <a:ext cx="5372100" cy="2466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809625" y="581025"/>
            <a:ext cx="11341417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E8A020"/>
                </a:solidFill>
                <a:latin typeface="Inter"/>
                <a:ea typeface="Inter"/>
                <a:cs typeface="Inter"/>
                <a:sym typeface="Inter"/>
              </a:rPr>
              <a:t>SPOTTING EMAIL RED FLAGS</a:t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581025" y="581025"/>
            <a:ext cx="57150" cy="50289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23925" y="1807815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923925" y="2255490"/>
            <a:ext cx="492061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E8A020"/>
                </a:solidFill>
                <a:latin typeface="Inter"/>
                <a:ea typeface="Inter"/>
                <a:cs typeface="Inter"/>
                <a:sym typeface="Inter"/>
              </a:rPr>
              <a:t>DISPLAY NAME VS DOMAIN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923925" y="2674590"/>
            <a:ext cx="46863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8A4C0"/>
                </a:solidFill>
                <a:latin typeface="Inter"/>
                <a:ea typeface="Inter"/>
                <a:cs typeface="Inter"/>
                <a:sym typeface="Inter"/>
              </a:rPr>
              <a:t>Attackers set name as "PayPal Security" while sending from generic addresses like security@temp-pay-check.com.</a:t>
            </a:r>
            <a:endParaRPr/>
          </a:p>
        </p:txBody>
      </p:sp>
      <p:pic>
        <p:nvPicPr>
          <p:cNvPr id="141" name="Google Shape;14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1775" y="180781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6581775" y="2255490"/>
            <a:ext cx="492061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E8A020"/>
                </a:solidFill>
                <a:latin typeface="Inter"/>
                <a:ea typeface="Inter"/>
                <a:cs typeface="Inter"/>
                <a:sym typeface="Inter"/>
              </a:rPr>
              <a:t>ARTIFICIAL URGENCY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6581775" y="2674590"/>
            <a:ext cx="46863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8A4C0"/>
                </a:solidFill>
                <a:latin typeface="Inter"/>
                <a:ea typeface="Inter"/>
                <a:cs typeface="Inter"/>
                <a:sym typeface="Inter"/>
              </a:rPr>
              <a:t>High-pressure subject lines bypass rational thinking to trigger rapid, emotional actions before you can verify.</a:t>
            </a:r>
            <a:endParaRPr/>
          </a:p>
        </p:txBody>
      </p:sp>
      <p:pic>
        <p:nvPicPr>
          <p:cNvPr id="144" name="Google Shape;144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3925" y="4560540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923925" y="5008215"/>
            <a:ext cx="492061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E8A020"/>
                </a:solidFill>
                <a:latin typeface="Inter"/>
                <a:ea typeface="Inter"/>
                <a:cs typeface="Inter"/>
                <a:sym typeface="Inter"/>
              </a:rPr>
              <a:t>GENERIC GREETINGS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923925" y="5427315"/>
            <a:ext cx="46863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8A4C0"/>
                </a:solidFill>
                <a:latin typeface="Inter"/>
                <a:ea typeface="Inter"/>
                <a:cs typeface="Inter"/>
                <a:sym typeface="Inter"/>
              </a:rPr>
              <a:t>Standard bulk emails use terms like "Dear User" instead of your actual name, signaling mass-delivered campaigns.</a:t>
            </a:r>
            <a:endParaRPr/>
          </a:p>
        </p:txBody>
      </p:sp>
      <p:pic>
        <p:nvPicPr>
          <p:cNvPr id="147" name="Google Shape;147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81775" y="4560540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 txBox="1"/>
          <p:nvPr/>
        </p:nvSpPr>
        <p:spPr>
          <a:xfrm>
            <a:off x="6581775" y="5008215"/>
            <a:ext cx="492061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E8A020"/>
                </a:solidFill>
                <a:latin typeface="Inter"/>
                <a:ea typeface="Inter"/>
                <a:cs typeface="Inter"/>
                <a:sym typeface="Inter"/>
              </a:rPr>
              <a:t>DISGUISED DESTINATIONS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6581775" y="5427315"/>
            <a:ext cx="46863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8A4C0"/>
                </a:solidFill>
                <a:latin typeface="Inter"/>
                <a:ea typeface="Inter"/>
                <a:cs typeface="Inter"/>
                <a:sym typeface="Inter"/>
              </a:rPr>
              <a:t>Text links might display "microsoft.com", but hovering reveals a malicious destination domain elsewhere.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5475833"/>
            <a:ext cx="1102995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561058"/>
            <a:ext cx="5229225" cy="353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1561058"/>
            <a:ext cx="5229225" cy="353377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809625" y="581025"/>
            <a:ext cx="11341417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E8A020"/>
                </a:solidFill>
                <a:latin typeface="Inter"/>
                <a:ea typeface="Inter"/>
                <a:cs typeface="Inter"/>
                <a:sym typeface="Inter"/>
              </a:rPr>
              <a:t>DETECTING FAKE WEBSITES</a:t>
            </a:r>
            <a:endParaRPr/>
          </a:p>
        </p:txBody>
      </p:sp>
      <p:sp>
        <p:nvSpPr>
          <p:cNvPr id="159" name="Google Shape;159;p17"/>
          <p:cNvSpPr/>
          <p:nvPr/>
        </p:nvSpPr>
        <p:spPr>
          <a:xfrm>
            <a:off x="581025" y="581025"/>
            <a:ext cx="57150" cy="50289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781050" y="5675858"/>
            <a:ext cx="10629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0EBD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 TIP:</a:t>
            </a:r>
            <a:r>
              <a:rPr lang="en-US" sz="1500" b="0" i="0" u="none" strike="noStrike" cap="none">
                <a:solidFill>
                  <a:srgbClr val="E8A020"/>
                </a:solidFill>
                <a:latin typeface="Inter"/>
                <a:ea typeface="Inter"/>
                <a:cs typeface="Inter"/>
                <a:sym typeface="Inter"/>
              </a:rPr>
              <a:t> Always examine the root domain structure preceding the first slash character in your browser bar.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952500" y="1903958"/>
            <a:ext cx="474059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2A86B"/>
                </a:solidFill>
                <a:latin typeface="Inter"/>
                <a:ea typeface="Inter"/>
                <a:cs typeface="Inter"/>
                <a:sym typeface="Inter"/>
              </a:rPr>
              <a:t>LEGITIMATE WEB DOMAINS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952500" y="2323058"/>
            <a:ext cx="45148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8A4C0"/>
                </a:solidFill>
                <a:latin typeface="Inter"/>
                <a:ea typeface="Inter"/>
                <a:cs typeface="Inter"/>
                <a:sym typeface="Inter"/>
              </a:rPr>
              <a:t>Authentic brand pages use precise, simple domains matching their trademark.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6753225" y="1903958"/>
            <a:ext cx="474059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TYPOSQUATTED CLONES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6753225" y="2323058"/>
            <a:ext cx="45148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8A4C0"/>
                </a:solidFill>
                <a:latin typeface="Inter"/>
                <a:ea typeface="Inter"/>
                <a:cs typeface="Inter"/>
                <a:sym typeface="Inter"/>
              </a:rPr>
              <a:t>Attackers register domain look-alikes that use minor, easily missed characters.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1381125" y="3123158"/>
            <a:ext cx="40862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8A4C0"/>
                </a:solidFill>
                <a:latin typeface="Inter"/>
                <a:ea typeface="Inter"/>
                <a:cs typeface="Inter"/>
                <a:sym typeface="Inter"/>
              </a:rPr>
              <a:t>Matches trademark (e.g. github.com)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1381125" y="3666083"/>
            <a:ext cx="40862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8A4C0"/>
                </a:solidFill>
                <a:latin typeface="Inter"/>
                <a:ea typeface="Inter"/>
                <a:cs typeface="Inter"/>
                <a:sym typeface="Inter"/>
              </a:rPr>
              <a:t>Valid security certificates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1381125" y="4209008"/>
            <a:ext cx="40862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8A4C0"/>
                </a:solidFill>
                <a:latin typeface="Inter"/>
                <a:ea typeface="Inter"/>
                <a:cs typeface="Inter"/>
                <a:sym typeface="Inter"/>
              </a:rPr>
              <a:t>No complex nested subdomains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7181850" y="3123158"/>
            <a:ext cx="40862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8A4C0"/>
                </a:solidFill>
                <a:latin typeface="Inter"/>
                <a:ea typeface="Inter"/>
                <a:cs typeface="Inter"/>
                <a:sym typeface="Inter"/>
              </a:rPr>
              <a:t>githunb.com vs github.com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7181850" y="3666083"/>
            <a:ext cx="40862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8A4C0"/>
                </a:solidFill>
                <a:latin typeface="Inter"/>
                <a:ea typeface="Inter"/>
                <a:cs typeface="Inter"/>
                <a:sym typeface="Inter"/>
              </a:rPr>
              <a:t>github-support.net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7181850" y="4209008"/>
            <a:ext cx="40862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8A4C0"/>
                </a:solidFill>
                <a:latin typeface="Inter"/>
                <a:ea typeface="Inter"/>
                <a:cs typeface="Inter"/>
                <a:sym typeface="Inter"/>
              </a:rPr>
              <a:t>Complex root structures</a:t>
            </a:r>
            <a:endParaRPr/>
          </a:p>
        </p:txBody>
      </p:sp>
      <p:pic>
        <p:nvPicPr>
          <p:cNvPr id="171" name="Google Shape;171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2500" y="3161258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2500" y="3704183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2500" y="4247108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53225" y="3161258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53225" y="3704183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53225" y="4247108"/>
            <a:ext cx="1714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294483"/>
            <a:ext cx="3486150" cy="315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294483"/>
            <a:ext cx="3486150" cy="315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294483"/>
            <a:ext cx="3486150" cy="315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8"/>
          <p:cNvSpPr txBox="1"/>
          <p:nvPr/>
        </p:nvSpPr>
        <p:spPr>
          <a:xfrm>
            <a:off x="809625" y="581025"/>
            <a:ext cx="11341417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E8A020"/>
                </a:solidFill>
                <a:latin typeface="Inter"/>
                <a:ea typeface="Inter"/>
                <a:cs typeface="Inter"/>
                <a:sym typeface="Inter"/>
              </a:rPr>
              <a:t>PSYCHOLOGY OF SOCIAL ENGINEERING</a:t>
            </a:r>
            <a:endParaRPr/>
          </a:p>
        </p:txBody>
      </p:sp>
      <p:sp>
        <p:nvSpPr>
          <p:cNvPr id="186" name="Google Shape;186;p18"/>
          <p:cNvSpPr/>
          <p:nvPr/>
        </p:nvSpPr>
        <p:spPr>
          <a:xfrm>
            <a:off x="581025" y="581025"/>
            <a:ext cx="57150" cy="50289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3925" y="2637383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8"/>
          <p:cNvSpPr txBox="1"/>
          <p:nvPr/>
        </p:nvSpPr>
        <p:spPr>
          <a:xfrm>
            <a:off x="923925" y="3161258"/>
            <a:ext cx="294036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E8A020"/>
                </a:solidFill>
                <a:latin typeface="Inter"/>
                <a:ea typeface="Inter"/>
                <a:cs typeface="Inter"/>
                <a:sym typeface="Inter"/>
              </a:rPr>
              <a:t>AUTHORITY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923925" y="3580358"/>
            <a:ext cx="28003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8A4C0"/>
                </a:solidFill>
                <a:latin typeface="Inter"/>
                <a:ea typeface="Inter"/>
                <a:cs typeface="Inter"/>
                <a:sym typeface="Inter"/>
              </a:rPr>
              <a:t>Attackers claim to be high-ranking executives or IT directors to exploit hierarchies and compel obedience.</a:t>
            </a:r>
            <a:endParaRPr/>
          </a:p>
        </p:txBody>
      </p:sp>
      <p:pic>
        <p:nvPicPr>
          <p:cNvPr id="190" name="Google Shape;190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95825" y="263738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8"/>
          <p:cNvSpPr txBox="1"/>
          <p:nvPr/>
        </p:nvSpPr>
        <p:spPr>
          <a:xfrm>
            <a:off x="4695825" y="3161258"/>
            <a:ext cx="294036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E8A020"/>
                </a:solidFill>
                <a:latin typeface="Inter"/>
                <a:ea typeface="Inter"/>
                <a:cs typeface="Inter"/>
                <a:sym typeface="Inter"/>
              </a:rPr>
              <a:t>FEAR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4695825" y="3580358"/>
            <a:ext cx="28003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8A4C0"/>
                </a:solidFill>
                <a:latin typeface="Inter"/>
                <a:ea typeface="Inter"/>
                <a:cs typeface="Inter"/>
                <a:sym typeface="Inter"/>
              </a:rPr>
              <a:t>Using potential threats like system lockouts or legal action to induce panic and skip review processes.</a:t>
            </a:r>
            <a:endParaRPr/>
          </a:p>
        </p:txBody>
      </p:sp>
      <p:pic>
        <p:nvPicPr>
          <p:cNvPr id="193" name="Google Shape;193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67725" y="263738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8"/>
          <p:cNvSpPr txBox="1"/>
          <p:nvPr/>
        </p:nvSpPr>
        <p:spPr>
          <a:xfrm>
            <a:off x="8467725" y="3161258"/>
            <a:ext cx="294036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E8A020"/>
                </a:solidFill>
                <a:latin typeface="Inter"/>
                <a:ea typeface="Inter"/>
                <a:cs typeface="Inter"/>
                <a:sym typeface="Inter"/>
              </a:rPr>
              <a:t>GREED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8467725" y="3580358"/>
            <a:ext cx="280035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8A4C0"/>
                </a:solidFill>
                <a:latin typeface="Inter"/>
                <a:ea typeface="Inter"/>
                <a:cs typeface="Inter"/>
                <a:sym typeface="Inter"/>
              </a:rPr>
              <a:t>Tempting targets with fabricated cash bonuses or gift cards to motivate voluntary entry of login details.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158305"/>
            <a:ext cx="4943475" cy="353377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809625" y="771525"/>
            <a:ext cx="4950618" cy="1005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E8A020"/>
                </a:solidFill>
                <a:latin typeface="Inter"/>
                <a:ea typeface="Inter"/>
                <a:cs typeface="Inter"/>
                <a:sym typeface="Inter"/>
              </a:rPr>
              <a:t>REAL-WORLD ATTACK EXAMPLE</a:t>
            </a:r>
            <a:endParaRPr/>
          </a:p>
        </p:txBody>
      </p:sp>
      <p:sp>
        <p:nvSpPr>
          <p:cNvPr id="203" name="Google Shape;203;p19"/>
          <p:cNvSpPr/>
          <p:nvPr/>
        </p:nvSpPr>
        <p:spPr>
          <a:xfrm>
            <a:off x="581025" y="771525"/>
            <a:ext cx="57150" cy="100578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4" name="Google Shape;20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6000" y="9525"/>
            <a:ext cx="19716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9"/>
          <p:cNvSpPr txBox="1"/>
          <p:nvPr/>
        </p:nvSpPr>
        <p:spPr>
          <a:xfrm>
            <a:off x="923925" y="2501205"/>
            <a:ext cx="447055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0EBD8"/>
                </a:solidFill>
                <a:latin typeface="Inter"/>
                <a:ea typeface="Inter"/>
                <a:cs typeface="Inter"/>
                <a:sym typeface="Inter"/>
              </a:rPr>
              <a:t>THE MICROSOFT 365 PORTAL SPOOF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923925" y="2920305"/>
            <a:ext cx="425767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8A4C0"/>
                </a:solidFill>
                <a:latin typeface="Inter"/>
                <a:ea typeface="Inter"/>
                <a:cs typeface="Inter"/>
                <a:sym typeface="Inter"/>
              </a:rPr>
              <a:t>An attacker sends a notification claiming you received a confidential shared document. Clicking opens a flawless clone of the M365 credential page.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923925" y="4425255"/>
            <a:ext cx="4257675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0EBD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Outcome:</a:t>
            </a:r>
            <a:r>
              <a:rPr lang="en-US" sz="1500" b="0" i="0" u="none" strike="noStrike" cap="non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 Your password is saved by the attacker, who immediately compromises internal accounts.</a:t>
            </a:r>
            <a:endParaRPr/>
          </a:p>
        </p:txBody>
      </p:sp>
      <p:sp>
        <p:nvSpPr>
          <p:cNvPr id="208" name="Google Shape;208;p19"/>
          <p:cNvSpPr/>
          <p:nvPr/>
        </p:nvSpPr>
        <p:spPr>
          <a:xfrm>
            <a:off x="923925" y="4282380"/>
            <a:ext cx="42576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" name="Google Shape;209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83950" y="2158300"/>
            <a:ext cx="5161875" cy="325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0"/>
          <p:cNvSpPr txBox="1"/>
          <p:nvPr/>
        </p:nvSpPr>
        <p:spPr>
          <a:xfrm>
            <a:off x="809625" y="581025"/>
            <a:ext cx="11341417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E8A020"/>
                </a:solidFill>
                <a:latin typeface="Inter"/>
                <a:ea typeface="Inter"/>
                <a:cs typeface="Inter"/>
                <a:sym typeface="Inter"/>
              </a:rPr>
              <a:t>PROACTIVE DEFENSE PRACTICES</a:t>
            </a:r>
            <a:endParaRPr/>
          </a:p>
        </p:txBody>
      </p:sp>
      <p:sp>
        <p:nvSpPr>
          <p:cNvPr id="216" name="Google Shape;216;p20"/>
          <p:cNvSpPr/>
          <p:nvPr/>
        </p:nvSpPr>
        <p:spPr>
          <a:xfrm>
            <a:off x="581025" y="581025"/>
            <a:ext cx="57150" cy="50289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1009650" y="2023020"/>
            <a:ext cx="4800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0EBD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Enforce MFA:</a:t>
            </a:r>
            <a:r>
              <a:rPr lang="en-US" sz="1500" b="0" i="0" u="none" strike="noStrike" cap="none">
                <a:solidFill>
                  <a:srgbClr val="A8A4C0"/>
                </a:solidFill>
                <a:latin typeface="Inter"/>
                <a:ea typeface="Inter"/>
                <a:cs typeface="Inter"/>
                <a:sym typeface="Inter"/>
              </a:rPr>
              <a:t> Implement multi-factor verification. Even with a stolen password, attackers can't gain access.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1009650" y="3175545"/>
            <a:ext cx="4800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0EBD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Hover &amp; Check:</a:t>
            </a:r>
            <a:r>
              <a:rPr lang="en-US" sz="1500" b="0" i="0" u="none" strike="noStrike" cap="none">
                <a:solidFill>
                  <a:srgbClr val="A8A4C0"/>
                </a:solidFill>
                <a:latin typeface="Inter"/>
                <a:ea typeface="Inter"/>
                <a:cs typeface="Inter"/>
                <a:sym typeface="Inter"/>
              </a:rPr>
              <a:t> Inspect the full destination of any hyperlink before clicking for unexpected domains.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1009650" y="4023270"/>
            <a:ext cx="4800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0EBD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Out-of-Band Verify:</a:t>
            </a:r>
            <a:r>
              <a:rPr lang="en-US" sz="1500" b="0" i="0" u="none" strike="noStrike" cap="none">
                <a:solidFill>
                  <a:srgbClr val="A8A4C0"/>
                </a:solidFill>
                <a:latin typeface="Inter"/>
                <a:ea typeface="Inter"/>
                <a:cs typeface="Inter"/>
                <a:sym typeface="Inter"/>
              </a:rPr>
              <a:t> Confirm urgent requests from managers using a separate known phone number.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1009650" y="4870995"/>
            <a:ext cx="4800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0EBD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Report Instantly:</a:t>
            </a:r>
            <a:r>
              <a:rPr lang="en-US" sz="1500" b="0" i="0" u="none" strike="noStrike" cap="none">
                <a:solidFill>
                  <a:srgbClr val="A8A4C0"/>
                </a:solidFill>
                <a:latin typeface="Inter"/>
                <a:ea typeface="Inter"/>
                <a:cs typeface="Inter"/>
                <a:sym typeface="Inter"/>
              </a:rPr>
              <a:t> Use the "Report Phishing" button. Active reporting blacklists servers for everyone.</a:t>
            </a:r>
            <a:endParaRPr/>
          </a:p>
        </p:txBody>
      </p:sp>
      <p:pic>
        <p:nvPicPr>
          <p:cNvPr id="221" name="Google Shape;22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06112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21364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06137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90909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744375" y="2023025"/>
            <a:ext cx="4912899" cy="3304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66875" y="2203995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1"/>
          <p:cNvSpPr txBox="1"/>
          <p:nvPr/>
        </p:nvSpPr>
        <p:spPr>
          <a:xfrm>
            <a:off x="809625" y="581025"/>
            <a:ext cx="11341417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E8A020"/>
                </a:solidFill>
                <a:latin typeface="Inter"/>
                <a:ea typeface="Inter"/>
                <a:cs typeface="Inter"/>
                <a:sym typeface="Inter"/>
              </a:rPr>
              <a:t>LAYERED DEFENSE MODEL</a:t>
            </a:r>
            <a:endParaRPr/>
          </a:p>
        </p:txBody>
      </p:sp>
      <p:sp>
        <p:nvSpPr>
          <p:cNvPr id="233" name="Google Shape;233;p21"/>
          <p:cNvSpPr/>
          <p:nvPr/>
        </p:nvSpPr>
        <p:spPr>
          <a:xfrm>
            <a:off x="581025" y="581025"/>
            <a:ext cx="57150" cy="50289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5762625" y="2394495"/>
            <a:ext cx="500062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0EBD8"/>
                </a:solidFill>
                <a:latin typeface="Inter"/>
                <a:ea typeface="Inter"/>
                <a:cs typeface="Inter"/>
                <a:sym typeface="Inter"/>
              </a:rPr>
              <a:t>THE HUMAN SECURITY ELEMENT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5762625" y="2804070"/>
            <a:ext cx="47625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8A4C0"/>
                </a:solidFill>
                <a:latin typeface="Inter"/>
                <a:ea typeface="Inter"/>
                <a:cs typeface="Inter"/>
                <a:sym typeface="Inter"/>
              </a:rPr>
              <a:t>Effective security requires a coordinated, multi-layered approach that prioritizes human risk awareness training alongside system defenses.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2857500" y="3429074"/>
            <a:ext cx="9525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0EBD8"/>
                </a:solidFill>
                <a:latin typeface="Inter"/>
                <a:ea typeface="Inter"/>
                <a:cs typeface="Inter"/>
                <a:sym typeface="Inter"/>
              </a:rPr>
              <a:t>IMPACT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2857500" y="3642345"/>
            <a:ext cx="9525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E8A020"/>
                </a:solidFill>
                <a:latin typeface="Inter"/>
                <a:ea typeface="Inter"/>
                <a:cs typeface="Inter"/>
                <a:sym typeface="Inter"/>
              </a:rPr>
              <a:t>&lt;5%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2857500" y="4129906"/>
            <a:ext cx="952500" cy="18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A8A4C0"/>
                </a:solidFill>
                <a:latin typeface="Inter"/>
                <a:ea typeface="Inter"/>
                <a:cs typeface="Inter"/>
                <a:sym typeface="Inter"/>
              </a:rPr>
              <a:t>Vulnerability Rate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5762625" y="4061370"/>
            <a:ext cx="47625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8A4C0"/>
                </a:solidFill>
                <a:latin typeface="Inter"/>
                <a:ea typeface="Inter"/>
                <a:cs typeface="Inter"/>
                <a:sym typeface="Inter"/>
              </a:rPr>
              <a:t>Active MFA (45%)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5762625" y="4509045"/>
            <a:ext cx="47625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8A4C0"/>
                </a:solidFill>
                <a:latin typeface="Inter"/>
                <a:ea typeface="Inter"/>
                <a:cs typeface="Inter"/>
                <a:sym typeface="Inter"/>
              </a:rPr>
              <a:t>User Training (35%)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5762625" y="4956720"/>
            <a:ext cx="47625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8A4C0"/>
                </a:solidFill>
                <a:latin typeface="Inter"/>
                <a:ea typeface="Inter"/>
                <a:cs typeface="Inter"/>
                <a:sym typeface="Inter"/>
              </a:rPr>
              <a:t>Email Filters (20%)</a:t>
            </a:r>
            <a:endParaRPr/>
          </a:p>
        </p:txBody>
      </p:sp>
      <p:sp>
        <p:nvSpPr>
          <p:cNvPr id="242" name="Google Shape;242;p21"/>
          <p:cNvSpPr/>
          <p:nvPr/>
        </p:nvSpPr>
        <p:spPr>
          <a:xfrm>
            <a:off x="5762625" y="4061370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E8A0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5762625" y="4509045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C070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1"/>
          <p:cNvSpPr/>
          <p:nvPr/>
        </p:nvSpPr>
        <p:spPr>
          <a:xfrm>
            <a:off x="5762625" y="4956720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0D0D1A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01205"/>
            <a:ext cx="5229225" cy="2739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348805"/>
            <a:ext cx="5229225" cy="3044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23925" y="4044255"/>
            <a:ext cx="4543425" cy="853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24650" y="4196655"/>
            <a:ext cx="4543425" cy="85338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2"/>
          <p:cNvSpPr txBox="1"/>
          <p:nvPr/>
        </p:nvSpPr>
        <p:spPr>
          <a:xfrm>
            <a:off x="809625" y="581025"/>
            <a:ext cx="11341417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E8A020"/>
                </a:solidFill>
                <a:latin typeface="Inter"/>
                <a:ea typeface="Inter"/>
                <a:cs typeface="Inter"/>
                <a:sym typeface="Inter"/>
              </a:rPr>
              <a:t>INTERACTIVE QUIZ: SPOT THE PHISH</a:t>
            </a:r>
            <a:endParaRPr/>
          </a:p>
        </p:txBody>
      </p:sp>
      <p:sp>
        <p:nvSpPr>
          <p:cNvPr id="255" name="Google Shape;255;p22"/>
          <p:cNvSpPr/>
          <p:nvPr/>
        </p:nvSpPr>
        <p:spPr>
          <a:xfrm>
            <a:off x="581025" y="581025"/>
            <a:ext cx="57150" cy="50289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2"/>
          <p:cNvSpPr txBox="1"/>
          <p:nvPr/>
        </p:nvSpPr>
        <p:spPr>
          <a:xfrm>
            <a:off x="923925" y="2844105"/>
            <a:ext cx="4543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8A0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 SCENARIO_A ]</a:t>
            </a:r>
            <a:endParaRPr/>
          </a:p>
        </p:txBody>
      </p:sp>
      <p:sp>
        <p:nvSpPr>
          <p:cNvPr id="257" name="Google Shape;257;p22"/>
          <p:cNvSpPr txBox="1"/>
          <p:nvPr/>
        </p:nvSpPr>
        <p:spPr>
          <a:xfrm>
            <a:off x="923925" y="3244155"/>
            <a:ext cx="45434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0EBD8"/>
                </a:solidFill>
                <a:latin typeface="Inter"/>
                <a:ea typeface="Inter"/>
                <a:cs typeface="Inter"/>
                <a:sym typeface="Inter"/>
              </a:rPr>
              <a:t>Email from hr@yourcompany-portal.com reads: "Urgent Update: Verify tax info or face penalty!"</a:t>
            </a:r>
            <a:endParaRPr/>
          </a:p>
        </p:txBody>
      </p:sp>
      <p:sp>
        <p:nvSpPr>
          <p:cNvPr id="258" name="Google Shape;258;p22"/>
          <p:cNvSpPr txBox="1"/>
          <p:nvPr/>
        </p:nvSpPr>
        <p:spPr>
          <a:xfrm>
            <a:off x="6724650" y="2691705"/>
            <a:ext cx="4543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8A0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 SCENARIO_B ]</a:t>
            </a:r>
            <a:endParaRPr/>
          </a:p>
        </p:txBody>
      </p:sp>
      <p:sp>
        <p:nvSpPr>
          <p:cNvPr id="259" name="Google Shape;259;p22"/>
          <p:cNvSpPr txBox="1"/>
          <p:nvPr/>
        </p:nvSpPr>
        <p:spPr>
          <a:xfrm>
            <a:off x="6724650" y="3091755"/>
            <a:ext cx="45434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0EBD8"/>
                </a:solidFill>
                <a:latin typeface="Inter"/>
                <a:ea typeface="Inter"/>
                <a:cs typeface="Inter"/>
                <a:sym typeface="Inter"/>
              </a:rPr>
              <a:t>Student portal announcement points to a document hosted directly under canvas.youruniversity.edu</a:t>
            </a:r>
            <a:endParaRPr/>
          </a:p>
        </p:txBody>
      </p:sp>
      <p:sp>
        <p:nvSpPr>
          <p:cNvPr id="260" name="Google Shape;260;p22"/>
          <p:cNvSpPr txBox="1"/>
          <p:nvPr/>
        </p:nvSpPr>
        <p:spPr>
          <a:xfrm>
            <a:off x="1076325" y="4196655"/>
            <a:ext cx="4238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VERDICT: PHISHING!</a:t>
            </a:r>
            <a:endParaRPr/>
          </a:p>
        </p:txBody>
      </p:sp>
      <p:sp>
        <p:nvSpPr>
          <p:cNvPr id="261" name="Google Shape;261;p22"/>
          <p:cNvSpPr txBox="1"/>
          <p:nvPr/>
        </p:nvSpPr>
        <p:spPr>
          <a:xfrm>
            <a:off x="1076325" y="4501455"/>
            <a:ext cx="4238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8A4C0"/>
                </a:solidFill>
                <a:latin typeface="Inter"/>
                <a:ea typeface="Inter"/>
                <a:cs typeface="Inter"/>
                <a:sym typeface="Inter"/>
              </a:rPr>
              <a:t>Domain ends in "-portal.com" and tone leverages panic.</a:t>
            </a:r>
            <a:endParaRPr/>
          </a:p>
        </p:txBody>
      </p:sp>
      <p:sp>
        <p:nvSpPr>
          <p:cNvPr id="262" name="Google Shape;262;p22"/>
          <p:cNvSpPr txBox="1"/>
          <p:nvPr/>
        </p:nvSpPr>
        <p:spPr>
          <a:xfrm>
            <a:off x="6877050" y="4349055"/>
            <a:ext cx="4238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2A86B"/>
                </a:solidFill>
                <a:latin typeface="Inter"/>
                <a:ea typeface="Inter"/>
                <a:cs typeface="Inter"/>
                <a:sym typeface="Inter"/>
              </a:rPr>
              <a:t>VERDICT: SAFE!</a:t>
            </a:r>
            <a:endParaRPr/>
          </a:p>
        </p:txBody>
      </p:sp>
      <p:sp>
        <p:nvSpPr>
          <p:cNvPr id="263" name="Google Shape;263;p22"/>
          <p:cNvSpPr txBox="1"/>
          <p:nvPr/>
        </p:nvSpPr>
        <p:spPr>
          <a:xfrm>
            <a:off x="6877050" y="4653855"/>
            <a:ext cx="4238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8A4C0"/>
                </a:solidFill>
                <a:latin typeface="Inter"/>
                <a:ea typeface="Inter"/>
                <a:cs typeface="Inter"/>
                <a:sym typeface="Inter"/>
              </a:rPr>
              <a:t>Link leads to official top-level registration domain.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3"/>
          <p:cNvSpPr txBox="1"/>
          <p:nvPr/>
        </p:nvSpPr>
        <p:spPr>
          <a:xfrm>
            <a:off x="809625" y="581025"/>
            <a:ext cx="11341417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E8A020"/>
                </a:solidFill>
                <a:latin typeface="Inter"/>
                <a:ea typeface="Inter"/>
                <a:cs typeface="Inter"/>
                <a:sym typeface="Inter"/>
              </a:rPr>
              <a:t>THE EVOLUTION OF THE THREAT</a:t>
            </a:r>
            <a:endParaRPr/>
          </a:p>
        </p:txBody>
      </p:sp>
      <p:sp>
        <p:nvSpPr>
          <p:cNvPr id="270" name="Google Shape;270;p23"/>
          <p:cNvSpPr/>
          <p:nvPr/>
        </p:nvSpPr>
        <p:spPr>
          <a:xfrm>
            <a:off x="581025" y="581025"/>
            <a:ext cx="57150" cy="50289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3"/>
          <p:cNvSpPr txBox="1"/>
          <p:nvPr/>
        </p:nvSpPr>
        <p:spPr>
          <a:xfrm>
            <a:off x="581025" y="1927925"/>
            <a:ext cx="5722200" cy="19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400" b="0" i="0" u="none" strike="noStrike" cap="none">
                <a:solidFill>
                  <a:srgbClr val="E8A02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82.6</a:t>
            </a:r>
            <a:r>
              <a:rPr lang="en-US" sz="12400">
                <a:solidFill>
                  <a:srgbClr val="E8A02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 %</a:t>
            </a:r>
            <a:endParaRPr sz="100"/>
          </a:p>
        </p:txBody>
      </p:sp>
      <p:sp>
        <p:nvSpPr>
          <p:cNvPr id="272" name="Google Shape;272;p23"/>
          <p:cNvSpPr txBox="1"/>
          <p:nvPr/>
        </p:nvSpPr>
        <p:spPr>
          <a:xfrm>
            <a:off x="581025" y="4705201"/>
            <a:ext cx="6191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7343775" y="2065883"/>
            <a:ext cx="448056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0EBD8"/>
                </a:solidFill>
                <a:latin typeface="Inter"/>
                <a:ea typeface="Inter"/>
                <a:cs typeface="Inter"/>
                <a:sym typeface="Inter"/>
              </a:rPr>
              <a:t>GENERATIVE AI &amp; MODERN ATTACKS</a:t>
            </a:r>
            <a:endParaRPr/>
          </a:p>
        </p:txBody>
      </p:sp>
      <p:sp>
        <p:nvSpPr>
          <p:cNvPr id="274" name="Google Shape;274;p23"/>
          <p:cNvSpPr txBox="1"/>
          <p:nvPr/>
        </p:nvSpPr>
        <p:spPr>
          <a:xfrm>
            <a:off x="7343775" y="2284958"/>
            <a:ext cx="4267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8A4C0"/>
                </a:solidFill>
                <a:latin typeface="Inter"/>
                <a:ea typeface="Inter"/>
                <a:cs typeface="Inter"/>
                <a:sym typeface="Inter"/>
              </a:rPr>
              <a:t>The vast majority of modern phishing attempts are now generated using automated artificial intelligence platforms.</a:t>
            </a:r>
            <a:endParaRPr/>
          </a:p>
        </p:txBody>
      </p:sp>
      <p:sp>
        <p:nvSpPr>
          <p:cNvPr id="275" name="Google Shape;275;p23"/>
          <p:cNvSpPr txBox="1"/>
          <p:nvPr/>
        </p:nvSpPr>
        <p:spPr>
          <a:xfrm>
            <a:off x="7772400" y="3437483"/>
            <a:ext cx="38385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8A4C0"/>
                </a:solidFill>
                <a:latin typeface="Inter"/>
                <a:ea typeface="Inter"/>
                <a:cs typeface="Inter"/>
                <a:sym typeface="Inter"/>
              </a:rPr>
              <a:t>Flawless translation into localized messages.</a:t>
            </a:r>
            <a:endParaRPr/>
          </a:p>
        </p:txBody>
      </p:sp>
      <p:sp>
        <p:nvSpPr>
          <p:cNvPr id="276" name="Google Shape;276;p23"/>
          <p:cNvSpPr txBox="1"/>
          <p:nvPr/>
        </p:nvSpPr>
        <p:spPr>
          <a:xfrm>
            <a:off x="7772400" y="4285208"/>
            <a:ext cx="38385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8A4C0"/>
                </a:solidFill>
                <a:latin typeface="Inter"/>
                <a:ea typeface="Inter"/>
                <a:cs typeface="Inter"/>
                <a:sym typeface="Inter"/>
              </a:rPr>
              <a:t>Traditional defense like "poor spelling" is obsolete.</a:t>
            </a:r>
            <a:endParaRPr/>
          </a:p>
        </p:txBody>
      </p:sp>
      <p:sp>
        <p:nvSpPr>
          <p:cNvPr id="277" name="Google Shape;277;p23"/>
          <p:cNvSpPr txBox="1"/>
          <p:nvPr/>
        </p:nvSpPr>
        <p:spPr>
          <a:xfrm>
            <a:off x="7772400" y="5132933"/>
            <a:ext cx="38385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8A4C0"/>
                </a:solidFill>
                <a:latin typeface="Inter"/>
                <a:ea typeface="Inter"/>
                <a:cs typeface="Inter"/>
                <a:sym typeface="Inter"/>
              </a:rPr>
              <a:t>Automated mass-tailoring of campaigns.</a:t>
            </a:r>
            <a:endParaRPr/>
          </a:p>
        </p:txBody>
      </p:sp>
      <p:pic>
        <p:nvPicPr>
          <p:cNvPr id="278" name="Google Shape;278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43775" y="3475583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43775" y="4323308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43775" y="5171033"/>
            <a:ext cx="2857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AccentBar"/>
          <p:cNvSpPr/>
          <p:nvPr/>
        </p:nvSpPr>
        <p:spPr>
          <a:xfrm>
            <a:off x="581025" y="581025"/>
            <a:ext cx="57150" cy="50289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Title"/>
          <p:cNvSpPr txBox="1"/>
          <p:nvPr/>
        </p:nvSpPr>
        <p:spPr>
          <a:xfrm>
            <a:off x="809625" y="581025"/>
            <a:ext cx="10700000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E8A020"/>
                </a:solidFill>
                <a:latin typeface="Inter"/>
              </a:rPr>
              <a:t>TYPES OF PHISHING ATTACKS</a:t>
            </a:r>
          </a:p>
        </p:txBody>
      </p:sp>
      <p:sp>
        <p:nvSpPr>
          <p:cNvPr id="403" name="Card1"/>
          <p:cNvSpPr/>
          <p:nvPr/>
        </p:nvSpPr>
        <p:spPr>
          <a:xfrm>
            <a:off x="581025" y="1400000"/>
            <a:ext cx="3600000" cy="1600000"/>
          </a:xfrm>
          <a:prstGeom prst="rect">
            <a:avLst/>
          </a:prstGeom>
          <a:solidFill>
            <a:srgbClr val="252545"/>
          </a:solidFill>
          <a:ln w="19050">
            <a:solidFill>
              <a:srgbClr val="E8A020"/>
            </a:solidFill>
          </a:ln>
        </p:spPr>
        <p:txBody>
          <a:bodyPr spcFirstLastPara="1" wrap="square" lIns="114300" tIns="114300" rIns="114300" bIns="114300" anchor="t" anchorCtr="0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800" b="1" u="none" strike="noStrike" cap="none">
                <a:solidFill>
                  <a:srgbClr val="E8A020"/>
                </a:solidFill>
                <a:latin typeface="Inter"/>
              </a:rPr>
              <a:t>Spear Phishing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u="none" strike="noStrike" cap="none">
                <a:solidFill>
                  <a:srgbClr val="A8A4C0"/>
                </a:solidFill>
                <a:latin typeface="Inter"/>
              </a:rPr>
              <a:t>Highly targeted attacks aimed at specific individuals using personal details gathered from social media and company websites to appear genuine.</a:t>
            </a:r>
          </a:p>
        </p:txBody>
      </p:sp>
      <p:sp>
        <p:nvSpPr>
          <p:cNvPr id="404" name="Card2"/>
          <p:cNvSpPr/>
          <p:nvPr/>
        </p:nvSpPr>
        <p:spPr>
          <a:xfrm>
            <a:off x="4381025" y="1400000"/>
            <a:ext cx="3600000" cy="1600000"/>
          </a:xfrm>
          <a:prstGeom prst="rect">
            <a:avLst/>
          </a:prstGeom>
          <a:solidFill>
            <a:srgbClr val="252545"/>
          </a:solidFill>
          <a:ln w="19050">
            <a:solidFill>
              <a:srgbClr val="E8A020"/>
            </a:solidFill>
          </a:ln>
        </p:spPr>
        <p:txBody>
          <a:bodyPr spcFirstLastPara="1" wrap="square" lIns="114300" tIns="114300" rIns="114300" bIns="114300" anchor="t" anchorCtr="0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800" b="1" u="none" strike="noStrike" cap="none">
                <a:solidFill>
                  <a:srgbClr val="E8A020"/>
                </a:solidFill>
                <a:latin typeface="Inter"/>
              </a:rPr>
              <a:t>Vishing (Voice)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u="none" strike="noStrike" cap="none">
                <a:solidFill>
                  <a:srgbClr val="A8A4C0"/>
                </a:solidFill>
                <a:latin typeface="Inter"/>
              </a:rPr>
              <a:t>Attackers call posing as bank officials, IRS agents, or IT support. They create urgency over the phone to extract credentials or wire transfers.</a:t>
            </a:r>
          </a:p>
        </p:txBody>
      </p:sp>
      <p:sp>
        <p:nvSpPr>
          <p:cNvPr id="405" name="Card3"/>
          <p:cNvSpPr/>
          <p:nvPr/>
        </p:nvSpPr>
        <p:spPr>
          <a:xfrm>
            <a:off x="8181025" y="1400000"/>
            <a:ext cx="3600000" cy="1600000"/>
          </a:xfrm>
          <a:prstGeom prst="rect">
            <a:avLst/>
          </a:prstGeom>
          <a:solidFill>
            <a:srgbClr val="252545"/>
          </a:solidFill>
          <a:ln w="19050">
            <a:solidFill>
              <a:srgbClr val="E8A020"/>
            </a:solidFill>
          </a:ln>
        </p:spPr>
        <p:txBody>
          <a:bodyPr spcFirstLastPara="1" wrap="square" lIns="114300" tIns="114300" rIns="114300" bIns="114300" anchor="t" anchorCtr="0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800" b="1" u="none" strike="noStrike" cap="none">
                <a:solidFill>
                  <a:srgbClr val="E8A020"/>
                </a:solidFill>
                <a:latin typeface="Inter"/>
              </a:rPr>
              <a:t>Smishing (SMS)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u="none" strike="noStrike" cap="none">
                <a:solidFill>
                  <a:srgbClr val="A8A4C0"/>
                </a:solidFill>
                <a:latin typeface="Inter"/>
              </a:rPr>
              <a:t>Fake package delivery alerts, bank fraud warnings, or prize notifications sent via SMS with malicious short links designed to steal personal data.</a:t>
            </a:r>
          </a:p>
        </p:txBody>
      </p:sp>
      <p:sp>
        <p:nvSpPr>
          <p:cNvPr id="406" name="Card4"/>
          <p:cNvSpPr/>
          <p:nvPr/>
        </p:nvSpPr>
        <p:spPr>
          <a:xfrm>
            <a:off x="581025" y="3200000"/>
            <a:ext cx="3600000" cy="1500000"/>
          </a:xfrm>
          <a:prstGeom prst="rect">
            <a:avLst/>
          </a:prstGeom>
          <a:solidFill>
            <a:srgbClr val="252545"/>
          </a:solidFill>
          <a:ln w="19050">
            <a:solidFill>
              <a:srgbClr val="E8A020"/>
            </a:solidFill>
          </a:ln>
        </p:spPr>
        <p:txBody>
          <a:bodyPr spcFirstLastPara="1" wrap="square" lIns="114300" tIns="114300" rIns="114300" bIns="114300" anchor="t" anchorCtr="0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800" b="1" u="none" strike="noStrike" cap="none">
                <a:solidFill>
                  <a:srgbClr val="E8A020"/>
                </a:solidFill>
                <a:latin typeface="Inter"/>
              </a:rPr>
              <a:t>Whaling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u="none" strike="noStrike" cap="none">
                <a:solidFill>
                  <a:srgbClr val="A8A4C0"/>
                </a:solidFill>
                <a:latin typeface="Inter"/>
              </a:rPr>
              <a:t>Spear phishing directed at C-suite executives and high-value targets. Often involves fake legal subpoenas or board-level communications.</a:t>
            </a:r>
          </a:p>
        </p:txBody>
      </p:sp>
      <p:sp>
        <p:nvSpPr>
          <p:cNvPr id="407" name="Card5"/>
          <p:cNvSpPr/>
          <p:nvPr/>
        </p:nvSpPr>
        <p:spPr>
          <a:xfrm>
            <a:off x="4381025" y="3200000"/>
            <a:ext cx="3600000" cy="1500000"/>
          </a:xfrm>
          <a:prstGeom prst="rect">
            <a:avLst/>
          </a:prstGeom>
          <a:solidFill>
            <a:srgbClr val="252545"/>
          </a:solidFill>
          <a:ln w="19050">
            <a:solidFill>
              <a:srgbClr val="E8A020"/>
            </a:solidFill>
          </a:ln>
        </p:spPr>
        <p:txBody>
          <a:bodyPr spcFirstLastPara="1" wrap="square" lIns="114300" tIns="114300" rIns="114300" bIns="114300" anchor="t" anchorCtr="0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800" b="1" u="none" strike="noStrike" cap="none">
                <a:solidFill>
                  <a:srgbClr val="E8A020"/>
                </a:solidFill>
                <a:latin typeface="Inter"/>
              </a:rPr>
              <a:t>Clone Phishing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u="none" strike="noStrike" cap="none">
                <a:solidFill>
                  <a:srgbClr val="A8A4C0"/>
                </a:solidFill>
                <a:latin typeface="Inter"/>
              </a:rPr>
              <a:t>A real previous email is duplicated with malicious links replacing legitimate ones. Victims trust it because they expect the follow-up message.</a:t>
            </a:r>
          </a:p>
        </p:txBody>
      </p:sp>
      <p:sp>
        <p:nvSpPr>
          <p:cNvPr id="408" name="Card6"/>
          <p:cNvSpPr/>
          <p:nvPr/>
        </p:nvSpPr>
        <p:spPr>
          <a:xfrm>
            <a:off x="8181025" y="3200000"/>
            <a:ext cx="3600000" cy="1500000"/>
          </a:xfrm>
          <a:prstGeom prst="rect">
            <a:avLst/>
          </a:prstGeom>
          <a:solidFill>
            <a:srgbClr val="252545"/>
          </a:solidFill>
          <a:ln w="19050">
            <a:solidFill>
              <a:srgbClr val="E8A020"/>
            </a:solidFill>
          </a:ln>
        </p:spPr>
        <p:txBody>
          <a:bodyPr spcFirstLastPara="1" wrap="square" lIns="114300" tIns="114300" rIns="114300" bIns="114300" anchor="t" anchorCtr="0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800" b="1" u="none" strike="noStrike" cap="none">
                <a:solidFill>
                  <a:srgbClr val="E8A020"/>
                </a:solidFill>
                <a:latin typeface="Inter"/>
              </a:rPr>
              <a:t>Pharming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u="none" strike="noStrike" cap="none">
                <a:solidFill>
                  <a:srgbClr val="A8A4C0"/>
                </a:solidFill>
                <a:latin typeface="Inter"/>
              </a:rPr>
              <a:t>DNS poisoning redirects users from legitimate URLs to fake websites even when typing correct addresses directly into their browser.</a:t>
            </a:r>
          </a:p>
        </p:txBody>
      </p:sp>
      <p:sp>
        <p:nvSpPr>
          <p:cNvPr id="409" name="Note"/>
          <p:cNvSpPr txBox="1"/>
          <p:nvPr/>
        </p:nvSpPr>
        <p:spPr>
          <a:xfrm>
            <a:off x="581025" y="5000000"/>
            <a:ext cx="11000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A8A4C0"/>
                </a:solidFill>
                <a:latin typeface="Inter"/>
              </a:rPr>
              <a:t>No-click required: Some modern attacks compromise systems without any user interaction — keep software and OS always updated.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AccentBar"/>
          <p:cNvSpPr/>
          <p:nvPr/>
        </p:nvSpPr>
        <p:spPr>
          <a:xfrm>
            <a:off x="581025" y="581025"/>
            <a:ext cx="57150" cy="50289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Title"/>
          <p:cNvSpPr txBox="1"/>
          <p:nvPr/>
        </p:nvSpPr>
        <p:spPr>
          <a:xfrm>
            <a:off x="809625" y="581025"/>
            <a:ext cx="10700000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E8A020"/>
                </a:solidFill>
                <a:latin typeface="Inter"/>
              </a:rPr>
              <a:t>REAL-WORLD CASE STUDIES</a:t>
            </a:r>
          </a:p>
        </p:txBody>
      </p:sp>
      <p:sp>
        <p:nvSpPr>
          <p:cNvPr id="453" name="Case1Hdr"/>
          <p:cNvSpPr txBox="1"/>
          <p:nvPr/>
        </p:nvSpPr>
        <p:spPr>
          <a:xfrm>
            <a:off x="581025" y="1400000"/>
            <a:ext cx="5400000" cy="35000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txBody>
          <a:bodyPr spcFirstLastPara="1" wrap="square" lIns="114300" tIns="57150" rIns="114300" bIns="57150" anchor="ctr" anchorCtr="0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u="none" strike="noStrike" cap="none">
                <a:solidFill>
                  <a:srgbClr val="1B1B2F"/>
                </a:solidFill>
                <a:latin typeface="Inter"/>
              </a:rPr>
              <a:t>CASE STUDY 1: Twitter Bitcoin Scam (2020)</a:t>
            </a:r>
          </a:p>
        </p:txBody>
      </p:sp>
      <p:sp>
        <p:nvSpPr>
          <p:cNvPr id="454" name="Case1Body"/>
          <p:cNvSpPr txBox="1"/>
          <p:nvPr/>
        </p:nvSpPr>
        <p:spPr>
          <a:xfrm>
            <a:off x="581025" y="1800000"/>
            <a:ext cx="5400000" cy="1521268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txBody>
          <a:bodyPr spcFirstLastPara="1" wrap="square" lIns="114300" tIns="114300" rIns="114300" bIns="114300" anchor="t" anchorCtr="0">
            <a:noAutofit/>
          </a:bodyPr>
          <a:lstStyle/>
          <a:p>
            <a:pPr mar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u="none" strike="noStrike" cap="none" dirty="0">
                <a:solidFill>
                  <a:srgbClr val="A8A4C0"/>
                </a:solidFill>
                <a:latin typeface="Inter"/>
              </a:rPr>
              <a:t>Attackers phone-spear-phished Twitter employees, gaining admin tool access. 130 high-profile accounts (Obama, Musk, Gates) were hijacked to promote a Bitcoin scam, collecting over $120,000 in under 3 hours. Attack vector: social engineering of internal IT staff, not a system breach.</a:t>
            </a:r>
          </a:p>
        </p:txBody>
      </p:sp>
      <p:sp>
        <p:nvSpPr>
          <p:cNvPr id="455" name="Lesson1"/>
          <p:cNvSpPr txBox="1"/>
          <p:nvPr/>
        </p:nvSpPr>
        <p:spPr>
          <a:xfrm>
            <a:off x="609600" y="3436054"/>
            <a:ext cx="5400000" cy="610428"/>
          </a:xfrm>
          <a:prstGeom prst="rect">
            <a:avLst/>
          </a:prstGeom>
          <a:solidFill>
            <a:srgbClr val="2A3A2A"/>
          </a:solidFill>
          <a:ln w="19050">
            <a:solidFill>
              <a:srgbClr val="22A86B"/>
            </a:solidFill>
          </a:ln>
        </p:spPr>
        <p:txBody>
          <a:bodyPr spcFirstLastPara="1" wrap="square" lIns="114300" tIns="57150" rIns="114300" bIns="57150" anchor="ctr" anchorCtr="0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u="none" strike="noStrike" cap="none" dirty="0">
                <a:solidFill>
                  <a:srgbClr val="22A86B"/>
                </a:solidFill>
                <a:latin typeface="Inter"/>
              </a:rPr>
              <a:t>Lesson: Even tech giants fall to human-layer attacks. Train ALL staff levels.</a:t>
            </a:r>
          </a:p>
        </p:txBody>
      </p:sp>
      <p:sp>
        <p:nvSpPr>
          <p:cNvPr id="456" name="Case2Hdr"/>
          <p:cNvSpPr txBox="1"/>
          <p:nvPr/>
        </p:nvSpPr>
        <p:spPr>
          <a:xfrm>
            <a:off x="6481025" y="1400000"/>
            <a:ext cx="5300000" cy="35000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txBody>
          <a:bodyPr spcFirstLastPara="1" wrap="square" lIns="114300" tIns="57150" rIns="114300" bIns="57150" anchor="ctr" anchorCtr="0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u="none" strike="noStrike" cap="none">
                <a:solidFill>
                  <a:srgbClr val="1B1B2F"/>
                </a:solidFill>
                <a:latin typeface="Inter"/>
              </a:rPr>
              <a:t>CASE STUDY 2: Bangladesh Bank Heist (2016)</a:t>
            </a:r>
          </a:p>
        </p:txBody>
      </p:sp>
      <p:sp>
        <p:nvSpPr>
          <p:cNvPr id="457" name="Case2Body"/>
          <p:cNvSpPr txBox="1"/>
          <p:nvPr/>
        </p:nvSpPr>
        <p:spPr>
          <a:xfrm>
            <a:off x="6481025" y="1799999"/>
            <a:ext cx="5300000" cy="1521269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txBody>
          <a:bodyPr spcFirstLastPara="1" wrap="square" lIns="114300" tIns="114300" rIns="114300" bIns="114300" anchor="t" anchorCtr="0">
            <a:noAutofit/>
          </a:bodyPr>
          <a:lstStyle/>
          <a:p>
            <a:pPr mar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u="none" strike="noStrike" cap="none">
                <a:solidFill>
                  <a:srgbClr val="A8A4C0"/>
                </a:solidFill>
                <a:latin typeface="Inter"/>
              </a:rPr>
              <a:t>Hackers sent phishing emails to bank employees, installed malware on internal computers, and issued fraudulent SWIFT transfer orders totaling $1 billion. $81 million was successfully transferred before detection. Entry point: a single employee opening an infected email attachment.</a:t>
            </a:r>
          </a:p>
        </p:txBody>
      </p:sp>
      <p:sp>
        <p:nvSpPr>
          <p:cNvPr id="458" name="Lesson2"/>
          <p:cNvSpPr txBox="1"/>
          <p:nvPr/>
        </p:nvSpPr>
        <p:spPr>
          <a:xfrm>
            <a:off x="6481025" y="3436053"/>
            <a:ext cx="5300000" cy="610429"/>
          </a:xfrm>
          <a:prstGeom prst="rect">
            <a:avLst/>
          </a:prstGeom>
          <a:solidFill>
            <a:srgbClr val="2A3A2A"/>
          </a:solidFill>
          <a:ln w="19050">
            <a:solidFill>
              <a:srgbClr val="22A86B"/>
            </a:solidFill>
          </a:ln>
        </p:spPr>
        <p:txBody>
          <a:bodyPr spcFirstLastPara="1" wrap="square" lIns="114300" tIns="57150" rIns="114300" bIns="57150" anchor="ctr" anchorCtr="0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u="none" strike="noStrike" cap="none" dirty="0">
                <a:solidFill>
                  <a:srgbClr val="22A86B"/>
                </a:solidFill>
                <a:latin typeface="Inter"/>
              </a:rPr>
              <a:t>Lesson: One click can cost billions. Email filtering + staff training are non-negotiable.</a:t>
            </a:r>
          </a:p>
        </p:txBody>
      </p:sp>
      <p:sp>
        <p:nvSpPr>
          <p:cNvPr id="459" name="StatBar"/>
          <p:cNvSpPr txBox="1"/>
          <p:nvPr/>
        </p:nvSpPr>
        <p:spPr>
          <a:xfrm>
            <a:off x="581025" y="4247471"/>
            <a:ext cx="11200000" cy="50000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txBody>
          <a:bodyPr spcFirstLastPara="1" wrap="square" lIns="228600" tIns="57150" rIns="228600" bIns="57150" anchor="ctr" anchorCtr="0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u="none" strike="noStrike" cap="none" dirty="0">
                <a:solidFill>
                  <a:srgbClr val="E8A020"/>
                </a:solidFill>
                <a:latin typeface="Inter"/>
              </a:rPr>
              <a:t>Global phishing attacks increased 61% year-over-year in 2023 — with financial services and healthcare as the top targets.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AccentBar"/>
          <p:cNvSpPr/>
          <p:nvPr/>
        </p:nvSpPr>
        <p:spPr>
          <a:xfrm>
            <a:off x="581025" y="581025"/>
            <a:ext cx="57150" cy="50289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Title"/>
          <p:cNvSpPr txBox="1"/>
          <p:nvPr/>
        </p:nvSpPr>
        <p:spPr>
          <a:xfrm>
            <a:off x="809625" y="581025"/>
            <a:ext cx="10700000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E8A020"/>
                </a:solidFill>
                <a:latin typeface="Inter"/>
              </a:rPr>
              <a:t>ORGANIZATIONAL INCIDENT RESPONSE</a:t>
            </a:r>
          </a:p>
        </p:txBody>
      </p:sp>
      <p:sp>
        <p:nvSpPr>
          <p:cNvPr id="503" name="Subtitle"/>
          <p:cNvSpPr txBox="1"/>
          <p:nvPr/>
        </p:nvSpPr>
        <p:spPr>
          <a:xfrm>
            <a:off x="809625" y="1150000"/>
            <a:ext cx="107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A8A4C0"/>
                </a:solidFill>
                <a:latin typeface="Inter"/>
              </a:rPr>
              <a:t>What to do when a phishing attack is suspected or confirmed — step by step</a:t>
            </a:r>
          </a:p>
        </p:txBody>
      </p:sp>
      <p:sp>
        <p:nvSpPr>
          <p:cNvPr id="504" name="Step1"/>
          <p:cNvSpPr/>
          <p:nvPr/>
        </p:nvSpPr>
        <p:spPr>
          <a:xfrm>
            <a:off x="581025" y="1700000"/>
            <a:ext cx="2200000" cy="900000"/>
          </a:xfrm>
          <a:prstGeom prst="rect">
            <a:avLst/>
          </a:prstGeom>
          <a:solidFill>
            <a:srgbClr val="252545"/>
          </a:solidFill>
          <a:ln w="19050">
            <a:solidFill>
              <a:srgbClr val="E8A020"/>
            </a:solidFill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800" b="1" u="none" strike="noStrike" cap="none">
                <a:solidFill>
                  <a:srgbClr val="E8A020"/>
                </a:solidFill>
                <a:latin typeface="Inter"/>
              </a:rPr>
              <a:t>01</a:t>
            </a:r>
          </a:p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u="none" strike="noStrike" cap="none">
                <a:solidFill>
                  <a:srgbClr val="F0EBD8"/>
                </a:solidFill>
                <a:latin typeface="Inter"/>
              </a:rPr>
              <a:t>STOP &amp; DISCONNECT</a:t>
            </a:r>
          </a:p>
        </p:txBody>
      </p:sp>
      <p:sp>
        <p:nvSpPr>
          <p:cNvPr id="505" name="Arrow1"/>
          <p:cNvSpPr txBox="1"/>
          <p:nvPr/>
        </p:nvSpPr>
        <p:spPr>
          <a:xfrm>
            <a:off x="2881025" y="1970000"/>
            <a:ext cx="300000" cy="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u="none" strike="noStrike" cap="none">
                <a:solidFill>
                  <a:srgbClr val="E8A020"/>
                </a:solidFill>
                <a:latin typeface="Inter"/>
              </a:rPr>
              <a:t>→</a:t>
            </a:r>
          </a:p>
        </p:txBody>
      </p:sp>
      <p:sp>
        <p:nvSpPr>
          <p:cNvPr id="506" name="Step2"/>
          <p:cNvSpPr/>
          <p:nvPr/>
        </p:nvSpPr>
        <p:spPr>
          <a:xfrm>
            <a:off x="3281025" y="1699999"/>
            <a:ext cx="2200000" cy="899999"/>
          </a:xfrm>
          <a:prstGeom prst="rect">
            <a:avLst/>
          </a:prstGeom>
          <a:solidFill>
            <a:srgbClr val="252545"/>
          </a:solidFill>
          <a:ln w="19050">
            <a:solidFill>
              <a:srgbClr val="E8A020"/>
            </a:solidFill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800" b="1" u="none" strike="noStrike" cap="none" dirty="0">
                <a:solidFill>
                  <a:srgbClr val="E8A020"/>
                </a:solidFill>
                <a:latin typeface="Inter"/>
              </a:rPr>
              <a:t>02</a:t>
            </a:r>
          </a:p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u="none" strike="noStrike" cap="none" dirty="0">
                <a:solidFill>
                  <a:srgbClr val="F0EBD8"/>
                </a:solidFill>
                <a:latin typeface="Inter"/>
              </a:rPr>
              <a:t>REPORT IT</a:t>
            </a:r>
          </a:p>
        </p:txBody>
      </p:sp>
      <p:sp>
        <p:nvSpPr>
          <p:cNvPr id="507" name="Arrow2"/>
          <p:cNvSpPr txBox="1"/>
          <p:nvPr/>
        </p:nvSpPr>
        <p:spPr>
          <a:xfrm>
            <a:off x="5581025" y="1970000"/>
            <a:ext cx="300000" cy="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u="none" strike="noStrike" cap="none">
                <a:solidFill>
                  <a:srgbClr val="E8A020"/>
                </a:solidFill>
                <a:latin typeface="Inter"/>
              </a:rPr>
              <a:t>→</a:t>
            </a:r>
          </a:p>
        </p:txBody>
      </p:sp>
      <p:sp>
        <p:nvSpPr>
          <p:cNvPr id="508" name="Step3"/>
          <p:cNvSpPr/>
          <p:nvPr/>
        </p:nvSpPr>
        <p:spPr>
          <a:xfrm>
            <a:off x="5981025" y="1700000"/>
            <a:ext cx="2200000" cy="900000"/>
          </a:xfrm>
          <a:prstGeom prst="rect">
            <a:avLst/>
          </a:prstGeom>
          <a:solidFill>
            <a:srgbClr val="252545"/>
          </a:solidFill>
          <a:ln w="19050">
            <a:solidFill>
              <a:srgbClr val="E8A020"/>
            </a:solidFill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800" b="1" u="none" strike="noStrike" cap="none" dirty="0">
                <a:solidFill>
                  <a:srgbClr val="E8A020"/>
                </a:solidFill>
                <a:latin typeface="Inter"/>
              </a:rPr>
              <a:t>03</a:t>
            </a:r>
          </a:p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u="none" strike="noStrike" cap="none" dirty="0">
                <a:solidFill>
                  <a:srgbClr val="F0EBD8"/>
                </a:solidFill>
                <a:latin typeface="Inter"/>
              </a:rPr>
              <a:t>CHANGE CREDENTIALS</a:t>
            </a:r>
          </a:p>
        </p:txBody>
      </p:sp>
      <p:sp>
        <p:nvSpPr>
          <p:cNvPr id="509" name="Arrow3"/>
          <p:cNvSpPr txBox="1"/>
          <p:nvPr/>
        </p:nvSpPr>
        <p:spPr>
          <a:xfrm>
            <a:off x="8281025" y="1970000"/>
            <a:ext cx="300000" cy="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u="none" strike="noStrike" cap="none">
                <a:solidFill>
                  <a:srgbClr val="E8A020"/>
                </a:solidFill>
                <a:latin typeface="Inter"/>
              </a:rPr>
              <a:t>→</a:t>
            </a:r>
          </a:p>
        </p:txBody>
      </p:sp>
      <p:sp>
        <p:nvSpPr>
          <p:cNvPr id="510" name="Step4"/>
          <p:cNvSpPr/>
          <p:nvPr/>
        </p:nvSpPr>
        <p:spPr>
          <a:xfrm>
            <a:off x="8681025" y="1700000"/>
            <a:ext cx="2900000" cy="899998"/>
          </a:xfrm>
          <a:prstGeom prst="rect">
            <a:avLst/>
          </a:prstGeom>
          <a:solidFill>
            <a:srgbClr val="252545"/>
          </a:solidFill>
          <a:ln w="19050">
            <a:solidFill>
              <a:srgbClr val="E8A020"/>
            </a:solidFill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800" b="1" u="none" strike="noStrike" cap="none" dirty="0">
                <a:solidFill>
                  <a:srgbClr val="E8A020"/>
                </a:solidFill>
                <a:latin typeface="Inter"/>
              </a:rPr>
              <a:t>04</a:t>
            </a:r>
          </a:p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u="none" strike="noStrike" cap="none" dirty="0">
                <a:solidFill>
                  <a:srgbClr val="F0EBD8"/>
                </a:solidFill>
                <a:latin typeface="Inter"/>
              </a:rPr>
              <a:t>FORENSIC REVIEW</a:t>
            </a:r>
          </a:p>
        </p:txBody>
      </p:sp>
      <p:sp>
        <p:nvSpPr>
          <p:cNvPr id="511" name="Desc1"/>
          <p:cNvSpPr txBox="1"/>
          <p:nvPr/>
        </p:nvSpPr>
        <p:spPr>
          <a:xfrm>
            <a:off x="581025" y="2600000"/>
            <a:ext cx="22000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u="none" strike="noStrike" cap="none">
                <a:solidFill>
                  <a:srgbClr val="A8A4C0"/>
                </a:solidFill>
                <a:latin typeface="Inter"/>
              </a:rPr>
              <a:t>Do not forward or reply. Isolate affected device immediately from network.</a:t>
            </a:r>
          </a:p>
        </p:txBody>
      </p:sp>
      <p:sp>
        <p:nvSpPr>
          <p:cNvPr id="512" name="Desc2"/>
          <p:cNvSpPr txBox="1"/>
          <p:nvPr/>
        </p:nvSpPr>
        <p:spPr>
          <a:xfrm>
            <a:off x="3281025" y="2600000"/>
            <a:ext cx="22000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u="none" strike="noStrike" cap="none">
                <a:solidFill>
                  <a:srgbClr val="A8A4C0"/>
                </a:solidFill>
                <a:latin typeface="Inter"/>
              </a:rPr>
              <a:t>Alert IT/security team immediately. Preserve the email as evidence — do not delete.</a:t>
            </a:r>
          </a:p>
        </p:txBody>
      </p:sp>
      <p:sp>
        <p:nvSpPr>
          <p:cNvPr id="513" name="Desc3"/>
          <p:cNvSpPr txBox="1"/>
          <p:nvPr/>
        </p:nvSpPr>
        <p:spPr>
          <a:xfrm>
            <a:off x="5981025" y="2600000"/>
            <a:ext cx="22000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u="none" strike="noStrike" cap="none">
                <a:solidFill>
                  <a:srgbClr val="A8A4C0"/>
                </a:solidFill>
                <a:latin typeface="Inter"/>
              </a:rPr>
              <a:t>Reset all passwords on affected accounts. Enable MFA if not already active.</a:t>
            </a:r>
          </a:p>
        </p:txBody>
      </p:sp>
      <p:sp>
        <p:nvSpPr>
          <p:cNvPr id="514" name="Desc4"/>
          <p:cNvSpPr txBox="1"/>
          <p:nvPr/>
        </p:nvSpPr>
        <p:spPr>
          <a:xfrm>
            <a:off x="8681025" y="2600000"/>
            <a:ext cx="29000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u="none" strike="noStrike" cap="none">
                <a:solidFill>
                  <a:srgbClr val="A8A4C0"/>
                </a:solidFill>
                <a:latin typeface="Inter"/>
              </a:rPr>
              <a:t>IT team reviews logs to determine breach scope. Document findings for compliance records.</a:t>
            </a:r>
          </a:p>
        </p:txBody>
      </p:sp>
      <p:sp>
        <p:nvSpPr>
          <p:cNvPr id="515" name="PolicyBox"/>
          <p:cNvSpPr txBox="1"/>
          <p:nvPr/>
        </p:nvSpPr>
        <p:spPr>
          <a:xfrm>
            <a:off x="581025" y="3600000"/>
            <a:ext cx="11200000" cy="600000"/>
          </a:xfrm>
          <a:prstGeom prst="rect">
            <a:avLst/>
          </a:prstGeom>
          <a:solidFill>
            <a:srgbClr val="2A1A10"/>
          </a:solidFill>
          <a:ln w="19050">
            <a:solidFill>
              <a:srgbClr val="E8A020"/>
            </a:solidFill>
          </a:ln>
        </p:spPr>
        <p:txBody>
          <a:bodyPr spcFirstLastPara="1" wrap="square" lIns="228600" tIns="114300" rIns="228600" bIns="114300" anchor="ctr" anchorCtr="0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u="none" strike="noStrike" cap="none">
                <a:solidFill>
                  <a:srgbClr val="E8A020"/>
                </a:solidFill>
                <a:latin typeface="Inter"/>
              </a:rPr>
              <a:t>KEY POLICY: </a:t>
            </a:r>
            <a:r>
              <a:rPr lang="en-US" sz="1500" b="0" u="none" strike="noStrike" cap="none">
                <a:solidFill>
                  <a:srgbClr val="F0EBD8"/>
                </a:solidFill>
                <a:latin typeface="Inter"/>
              </a:rPr>
              <a:t>Never penalize employees for reporting suspected attacks. A culture of open reporting reduces organizational risk by up to 70% according to NIST guidelines.</a:t>
            </a:r>
          </a:p>
        </p:txBody>
      </p:sp>
      <p:sp>
        <p:nvSpPr>
          <p:cNvPr id="516" name="ToolsHdr"/>
          <p:cNvSpPr txBox="1"/>
          <p:nvPr/>
        </p:nvSpPr>
        <p:spPr>
          <a:xfrm>
            <a:off x="581025" y="4450000"/>
            <a:ext cx="112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u="none" strike="noStrike" cap="none">
                <a:solidFill>
                  <a:srgbClr val="A8A4C0"/>
                </a:solidFill>
                <a:latin typeface="Inter"/>
              </a:rPr>
              <a:t>Recommended Tools: Microsoft Defender | Proofpoint | KnowBe4 Training Platform | VirusTotal (link scanner)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647090"/>
            <a:ext cx="11029950" cy="1499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728662"/>
            <a:ext cx="1102995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4"/>
          <p:cNvSpPr txBox="1"/>
          <p:nvPr/>
        </p:nvSpPr>
        <p:spPr>
          <a:xfrm>
            <a:off x="305276" y="2062162"/>
            <a:ext cx="11581447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F0EBD8"/>
                </a:solidFill>
                <a:latin typeface="Inter"/>
                <a:ea typeface="Inter"/>
                <a:cs typeface="Inter"/>
                <a:sym typeface="Inter"/>
              </a:rPr>
              <a:t>QUESTIONS?</a:t>
            </a:r>
            <a:endParaRPr/>
          </a:p>
        </p:txBody>
      </p:sp>
      <p:sp>
        <p:nvSpPr>
          <p:cNvPr id="289" name="Google Shape;289;p24"/>
          <p:cNvSpPr txBox="1"/>
          <p:nvPr/>
        </p:nvSpPr>
        <p:spPr>
          <a:xfrm>
            <a:off x="581025" y="3062287"/>
            <a:ext cx="110299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0EBD8"/>
                </a:solidFill>
                <a:latin typeface="Inter"/>
                <a:ea typeface="Inter"/>
                <a:cs typeface="Inter"/>
                <a:sym typeface="Inter"/>
              </a:rPr>
              <a:t>Become the Human Shield in Cybersecurity</a:t>
            </a:r>
            <a:endParaRPr/>
          </a:p>
        </p:txBody>
      </p:sp>
      <p:sp>
        <p:nvSpPr>
          <p:cNvPr id="291" name="Google Shape;291;p24"/>
          <p:cNvSpPr txBox="1"/>
          <p:nvPr/>
        </p:nvSpPr>
        <p:spPr>
          <a:xfrm>
            <a:off x="1162049" y="3683197"/>
            <a:ext cx="9867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A8A4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REPORT SUSPICIOUS ACTIVITY TO: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25AF26-94F1-4415-B4A6-6A731E101410}"/>
              </a:ext>
            </a:extLst>
          </p:cNvPr>
          <p:cNvSpPr txBox="1"/>
          <p:nvPr/>
        </p:nvSpPr>
        <p:spPr>
          <a:xfrm>
            <a:off x="2711669" y="3987998"/>
            <a:ext cx="6568965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v-SE" sz="1600" b="1" dirty="0">
                <a:solidFill>
                  <a:schemeClr val="bg1">
                    <a:lumMod val="95000"/>
                  </a:schemeClr>
                </a:solidFill>
              </a:rPr>
              <a:t>Fake Amazon</a:t>
            </a:r>
            <a:r>
              <a:rPr lang="sv-SE" sz="1600" b="1" dirty="0"/>
              <a:t>:</a:t>
            </a:r>
            <a:r>
              <a:rPr lang="sv-SE" sz="1600" dirty="0"/>
              <a:t> </a:t>
            </a:r>
            <a:r>
              <a:rPr lang="sv-SE" sz="1600" dirty="0">
                <a:hlinkClick r:id="rId6"/>
              </a:rPr>
              <a:t>stop-spoofing@amazon.com</a:t>
            </a:r>
            <a:endParaRPr lang="sv-SE" sz="1600" dirty="0"/>
          </a:p>
          <a:p>
            <a:pPr algn="ctr"/>
            <a:r>
              <a:rPr lang="nl-NL" sz="1600" b="1" dirty="0">
                <a:solidFill>
                  <a:schemeClr val="bg1">
                    <a:lumMod val="95000"/>
                  </a:schemeClr>
                </a:solidFill>
              </a:rPr>
              <a:t>Fake Google:</a:t>
            </a:r>
            <a:r>
              <a:rPr lang="nl-NL"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nl-NL" sz="1600" dirty="0">
                <a:hlinkClick r:id="rId7"/>
              </a:rPr>
              <a:t>reportphishing@google.com</a:t>
            </a:r>
            <a:endParaRPr lang="sv-SE" sz="1600" dirty="0"/>
          </a:p>
          <a:p>
            <a:pPr algn="ctr"/>
            <a:r>
              <a:rPr lang="nn-NO" sz="1600" b="1" dirty="0">
                <a:solidFill>
                  <a:schemeClr val="bg1">
                    <a:lumMod val="95000"/>
                  </a:schemeClr>
                </a:solidFill>
              </a:rPr>
              <a:t>Fake Microsoft</a:t>
            </a:r>
            <a:r>
              <a:rPr lang="nn-NO" sz="1600" b="1" dirty="0"/>
              <a:t>:</a:t>
            </a:r>
            <a:r>
              <a:rPr lang="nn-NO" sz="1600" dirty="0"/>
              <a:t> </a:t>
            </a:r>
            <a:r>
              <a:rPr lang="nn-NO" sz="1600" dirty="0">
                <a:hlinkClick r:id="rId8"/>
              </a:rPr>
              <a:t>phishing@microsoft.com</a:t>
            </a:r>
            <a:endParaRPr lang="sv-SE" sz="1600" dirty="0"/>
          </a:p>
          <a:p>
            <a:pPr algn="ctr"/>
            <a:endParaRPr lang="en-PK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AE2DDC-6A60-42F6-B069-3616D5277B9E}"/>
              </a:ext>
            </a:extLst>
          </p:cNvPr>
          <p:cNvSpPr txBox="1"/>
          <p:nvPr/>
        </p:nvSpPr>
        <p:spPr>
          <a:xfrm>
            <a:off x="3205656" y="2364827"/>
            <a:ext cx="754642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Thank You</a:t>
            </a:r>
            <a:endParaRPr lang="en-PK" sz="8800" b="1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3566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1193</Words>
  <Application>Microsoft Office PowerPoint</Application>
  <PresentationFormat>Widescreen</PresentationFormat>
  <Paragraphs>128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JetBrains Mono</vt:lpstr>
      <vt:lpstr>Inter</vt:lpstr>
      <vt:lpstr>Calibri</vt:lpstr>
      <vt:lpstr>Bahnschrift SemiLight</vt:lpstr>
      <vt:lpstr>Inter SemiBold</vt:lpstr>
      <vt:lpstr>Inter ExtraBold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Malik Asjid Ilyas Awan</cp:lastModifiedBy>
  <cp:revision>4</cp:revision>
  <dcterms:modified xsi:type="dcterms:W3CDTF">2026-05-21T18:44:17Z</dcterms:modified>
</cp:coreProperties>
</file>